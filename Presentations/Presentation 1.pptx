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6" r:id="rId3"/>
    <p:sldId id="262" r:id="rId4"/>
    <p:sldId id="264" r:id="rId5"/>
    <p:sldId id="267" r:id="rId6"/>
    <p:sldId id="268" r:id="rId7"/>
    <p:sldId id="263" r:id="rId8"/>
    <p:sldId id="265" r:id="rId9"/>
    <p:sldId id="266" r:id="rId10"/>
    <p:sldId id="269" r:id="rId11"/>
    <p:sldId id="270" r:id="rId12"/>
    <p:sldId id="271" r:id="rId13"/>
    <p:sldId id="272" r:id="rId14"/>
  </p:sldIdLst>
  <p:sldSz cx="10080625" cy="5670550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7ADB4B-0066-80AE-88DE-E41AAA08767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BBF29-3B44-438B-A91F-2F8E9DA96DD9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70095-0F81-DC60-E59B-6D55AA6AA4A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E677D-4622-2B7D-BB12-B791CB2C268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3709D1-F1DD-4437-B873-D406EF16BBA4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87166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ECDA7-C3A8-06D7-F068-4F8537496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15" y="764282"/>
            <a:ext cx="6704636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73F09-03BF-0E5F-B1D4-31159634B96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40" y="4777557"/>
            <a:ext cx="6217563" cy="45259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A3856D7-A8D8-7878-9369-A19E0980FC8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12641-30D4-C543-1E78-C528D7E2558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A89E5-5492-0E98-43FF-D4A8BE204BB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9293F-D66F-23CB-4A6E-07E0644708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62C876FF-0F98-4461-9741-A5EB327176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9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322A9C4-058A-F170-CCB8-C44D66F025F1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9B6291-7C39-481B-9C1D-26FF42D8F14B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B2A2C4A-97C4-2EAD-A76D-0877E82CE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38FCA7B-294A-269F-BFDD-8DD65BDFD1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3D34D-938A-976D-5F2C-3F5E69DF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49BB44E-07BE-707C-3181-9BECBD821CF4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A8AF1FE-8D09-B3DC-09E1-7FFED561A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6FBC7932-22C1-E240-2F0F-613C8E9FEC7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947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8FC8-9D22-8D94-D134-C3AECE3E0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F8DFED1-539F-22C6-5FCB-3F3C71946193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25659AE9-166D-D674-CF90-958851876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67D0C56-3302-C2AD-97B9-154CF375D6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6836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FFC4-5A4F-F5A8-1D28-F41ABCB88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C4E6816-189C-3D78-09D1-99FE887040BA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DF3E7ED-82CB-AB45-5DB6-A7A8C29E1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6027CF6-A622-5547-50DE-8C5AB07D344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85787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C3B6-9C59-0FB5-80BE-6824556C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23FA201-DD12-E0BB-E7B2-1FEE929DB5E2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CE0FCEE-4D3E-D60F-0ACD-B8BA544AF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145865F-39A5-52D8-FD6D-63E74FC833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4052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07D6-DAEB-C92A-D9B2-A2722F06A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F7A5C67-52FB-0F7E-2A0C-D1DE5A3BC1D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234F1FC2-687A-C353-DFBC-44A326067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1C9AA08-737A-F573-4A51-FD80662827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9166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3C989-ADFD-6EDD-E34D-C31BAB446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951D117-424F-7175-1A00-28AAD914D34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F35F02C-9858-FC4A-E747-D48D03A80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AFD7E13-A8F5-E0B7-E47E-8D93A89C95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3193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9485-4FFD-BA5F-55AE-E0ABD32F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F43DF04-B3C8-5D73-2F33-E6453A738D7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2EC9101-ACE6-271D-B099-E5D7C8DD2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F4DBF94-352F-A90C-0169-9890A4127E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7332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9C242-5704-2C89-DA8A-556B82A5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90F641E-0587-72E0-CB11-0606BA9EEA79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8BBEA82-1A4D-A61D-AF98-A26090F82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84B506C-E180-6BE3-D3E7-322E9D8F3F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5206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952C0-C255-AAD9-138A-71D00F5DC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BE76716-52CD-8EF1-4B6B-C4FC968DEB36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10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8678CBC-72F4-8765-43EE-576E790F7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71DB6540-1BA2-B3AF-7CCC-F49D7F6C77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82515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7C13-542F-AC97-1562-66F109B3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FA35648-7B43-F28B-2C4E-11A4C303D35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11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DDE1146-F418-AB70-D5F5-E7B186070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7ED86DC-D2BD-C057-6F81-6A9157184C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62308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6D3DF-F36B-4B26-75EA-2BBBD79D7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0CCE1CA-2DB4-50CA-12AA-3720697EFB5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12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29DFBED7-7AC8-2598-6A32-2F8A8AEC3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79E2219-6893-0F73-7784-730892A501D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05902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0692-D582-2F05-E6E1-75FA21AC24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65ABE-6A03-70D0-92EB-5A2627253F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0434-2803-A8B0-2A4C-E14985E97A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D409C-70C5-4D19-8F5C-953B5C43B1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7A69B3-CB82-48A4-85DC-DB28B576C7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4DFA-56A8-A429-BB0A-03AB366B05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BE78-A7A5-C53C-79E0-E0BB6D97237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46AE2-6A71-CC5C-B3C1-FCA0FBEF6FA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F5F15-9115-F38D-A2D2-CF33FB413F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8D6634-5E44-4BFE-8C0C-4E32CDC28D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8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8E96-9306-2AC7-5D59-0057A8D5C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694A1-89C8-2383-E71D-F09DBA6B5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FC8C6-B589-8D28-762B-4BD12F167A3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442E9-6C1D-5BBE-6FF0-341BB8B564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C6EC41-B1FB-40ED-B3CA-EAEEB8A0FC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1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79AD-E879-2C21-6EBF-730FB99BA61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CDDF-F509-BA6C-0D60-820167E81C0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463670"/>
            <a:ext cx="4459291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8C37E-72B9-2BA7-CC06-6E3A8C1C6E1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463670"/>
            <a:ext cx="4460872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2506-4356-DC3E-1033-D9EE85C8D5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694D4-A99E-4BCB-FF32-D559DECE357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093AF5-B7C8-49F7-AD50-244FB35223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7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374-F860-FD29-0BE6-18E521D52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6535-6240-CB08-A4C7-AAC4E7827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18BF4-C6D5-3F0E-5241-F5989C0471B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CCF9B-2DE2-4FF3-9605-4244221185C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65416-4190-CC53-106F-80A968E6104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8252A-B0CA-5927-4128-285E93AEDC9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E75EB1-8997-93A4-1BBA-8409A0EC66A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F0F5E4-7714-48B3-BC87-5ED985E319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8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1549-F8A8-5860-C55E-5BE6DC7BAF2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A75F9-A035-C691-CA77-7C3B65DD0A1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11A37-B070-519D-D972-53B4F8CC6B2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D336F7-0458-41A4-BD70-F426082592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8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29E8A-EC55-27B8-683B-4B39300CC6E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D67047-A896-27F8-6BBF-F15CBDC55E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A031C5-4224-4C08-8D79-4AE8468A35F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303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3C84-D9D0-1C5D-649A-F0529D55D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F807D-2442-BBD9-BE44-2AA7E8FB151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CA880-3D79-6C1D-FE7A-DE9AD82F09C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E0A4F-C16D-9447-6361-BBB53B537D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2591E-EF53-1E1F-7FB0-A19AB4AC37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DB112C-0D5A-4A56-B951-2E51CB2055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7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3E0C-4CC1-6057-DF6D-E828D84F59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28CD-E2BA-5690-0DF6-850E550BE65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39B6B-1901-21B3-B270-AB0F1F74AF2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3E415-B17E-9D9C-D4F3-40A416C9CFA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8ACDB-ACB6-526E-A4EC-32CBEA49FB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14BC18-A0FC-4D3C-9995-2BDDD27916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9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84B9-F1B1-453F-D79E-23E4B256B7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28298-4D3C-40F2-CBD5-34B5E758A62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FB841-11AE-DB00-E2AB-C02353997C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CE52C-1D19-1480-38D3-95A8C88895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CD21F2-7F5F-4479-A848-31E033094B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9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F86DA-83E6-5622-0B7A-359E73E162E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801691"/>
            <a:ext cx="2266953" cy="477678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2B167-181F-FB00-68BD-BA58A15B2EB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801691"/>
            <a:ext cx="6653210" cy="477678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0E4E7-BBE7-BEB9-D85F-E19340A549C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90E01-4B5B-E885-AFB5-30696B386D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1DBD68-169B-4B72-8FFE-DAD6733BB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57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DCE4-9602-1954-C57E-A51213F0C3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6605A-0FB7-6269-A6C6-72CB20FB64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114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FA53-C44E-B783-0358-79C31043AF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3E10F-836F-1B6D-FAB8-C192278D0E3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98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93E9-7C0A-63E7-A4FC-50276A0AC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B763B-80A2-CC1E-8D09-EDE7E8E8C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864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49C7-3275-D0A1-08AC-D51EA6185C5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C57F8-E6BD-AD05-AB5F-60A868B9B64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4022729"/>
            <a:ext cx="4459291" cy="153352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E6BAE-169E-0E0A-99E6-1ED153E461C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4022729"/>
            <a:ext cx="4460872" cy="153352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507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9007-141D-A4D5-CED8-FBF2E8840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96B6F-6CCB-399E-3B9F-A5B7F5DC6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2E011-684B-7427-F1D5-CDF35EC8412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7C219-7646-F80C-0E91-D773877F541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6E523-9128-5C6B-A578-F094D92BE439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243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979D-B5EA-4ABF-DAB9-3CE486FFCEA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43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51812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022D-E63C-ADED-BF8F-47B1E6FD3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9D4CE-DF31-48F6-09ED-660365C5235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601D2-8616-B8DC-31CF-4CDC9D06CFD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9593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CF0F-ACEF-9614-532D-A0784F8383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778C2-90E2-E62F-D3D1-38E6DCC0DE1D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5742C-90C0-1A3D-93BD-B6E2DC8ED2C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649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44A5-B15B-07D7-570C-38386DAC66E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32055-F634-6506-5F2B-147E9D7FC33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40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FB7CD-6551-E97F-0F07-664C45C0186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27901" y="2339977"/>
            <a:ext cx="2273298" cy="3216273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C74AF-EF8C-6967-3381-733C15F9BFE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2339977"/>
            <a:ext cx="6672257" cy="32162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11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9C5BE-15A1-8A06-FB39-381A4CAB9D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802084"/>
            <a:ext cx="9071643" cy="47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3EA96-B93F-6BC0-9C73-78C4192D6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463040"/>
            <a:ext cx="9071643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68095-6E50-1BA7-8BD4-5BE018B4CFB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F1455-F14E-6A5E-6F2C-20FB7DE2E52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defRPr>
            </a:lvl1pPr>
          </a:lstStyle>
          <a:p>
            <a:pPr lvl="0"/>
            <a:fld id="{BAAFB518-8F45-40CF-958A-A644436AFACC}" type="slidenum">
              <a:t>‹#›</a:t>
            </a:fld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4307DBA-4F74-FA31-04EE-2FF85A055EE1}"/>
              </a:ext>
            </a:extLst>
          </p:cNvPr>
          <p:cNvSpPr/>
          <p:nvPr/>
        </p:nvSpPr>
        <p:spPr>
          <a:xfrm>
            <a:off x="0" y="731520"/>
            <a:ext cx="1007999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36722" cap="flat">
            <a:solidFill>
              <a:srgbClr val="0073C0"/>
            </a:solidFill>
            <a:prstDash val="solid"/>
            <a:miter/>
          </a:ln>
        </p:spPr>
        <p:txBody>
          <a:bodyPr vert="horz" wrap="square" lIns="18361" tIns="18361" rIns="18361" bIns="18361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A6A9D4-19A3-F0C0-A096-07301A440B9D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503998" y="91440"/>
            <a:ext cx="3513956" cy="58824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2FB32D1-2C4D-3477-3C58-EBF11C522819}"/>
              </a:ext>
            </a:extLst>
          </p:cNvPr>
          <p:cNvSpPr/>
          <p:nvPr/>
        </p:nvSpPr>
        <p:spPr>
          <a:xfrm>
            <a:off x="8706240" y="0"/>
            <a:ext cx="0" cy="1828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8361" cap="flat">
            <a:solidFill>
              <a:srgbClr val="0073C0"/>
            </a:solidFill>
            <a:prstDash val="solid"/>
            <a:miter/>
          </a:ln>
        </p:spPr>
        <p:txBody>
          <a:bodyPr vert="horz" wrap="square" lIns="9363" tIns="9363" rIns="9363" bIns="9363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:frac=1&amp;smcp" pitchFamily="2"/>
          <a:ea typeface="DejaVu Sans" pitchFamily="2"/>
          <a:cs typeface="FreeSans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❖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5EB0B3B-C01D-A82C-1F7D-9D81A90A1F53}"/>
              </a:ext>
            </a:extLst>
          </p:cNvPr>
          <p:cNvSpPr/>
          <p:nvPr/>
        </p:nvSpPr>
        <p:spPr>
          <a:xfrm>
            <a:off x="0" y="3931920"/>
            <a:ext cx="10079998" cy="173808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073C0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FFFFFF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F252B72-CDAB-D5D4-2366-A1D74C024C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556" y="2339638"/>
            <a:ext cx="9071643" cy="9464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A4895-697C-5E7C-50FB-280A5EAC6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4023360"/>
            <a:ext cx="9071643" cy="15325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B6CFBD-8A93-9A7F-34EF-3EC0F7741EF0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486716" y="506156"/>
            <a:ext cx="9106921" cy="1524597"/>
          </a:xfrm>
          <a:prstGeom prst="rect">
            <a:avLst/>
          </a:prstGeom>
          <a:noFill/>
          <a:ln cap="flat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:frac=1&amp;smcp" pitchFamily="2"/>
          <a:ea typeface="DejaVu Sans" pitchFamily="2"/>
          <a:cs typeface="FreeSans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A48A-D3AD-42F0-2E0B-D8E87F50A8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9556" y="2166527"/>
            <a:ext cx="9071643" cy="1292662"/>
          </a:xfrm>
        </p:spPr>
        <p:txBody>
          <a:bodyPr>
            <a:spAutoFit/>
          </a:bodyPr>
          <a:lstStyle/>
          <a:p>
            <a:r>
              <a:rPr lang="en-GB" b="1" dirty="0"/>
              <a:t>Structuring Industrial Security Standards for Machine-Readable Analysis</a:t>
            </a:r>
            <a:br>
              <a:rPr lang="en-GB" dirty="0"/>
            </a:b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967A8-AC6D-B826-7E5E-3720664F84A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/>
          <a:lstStyle/>
          <a:p>
            <a:pPr>
              <a:buNone/>
            </a:pPr>
            <a:r>
              <a:rPr lang="en-GB" dirty="0"/>
              <a:t>Dipan Banerjee</a:t>
            </a:r>
            <a:endParaRPr lang="en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1E61-5CBB-480F-B269-8F82E9A98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72A7B-5282-CDD3-9E4A-5CEA2DE44B1E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85F5-C4C9-0E03-DAFD-4CE30453124E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4C7C0C-5452-AE03-D8E6-76AB17E4E5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A781D52-FD48-5FB8-C06C-54BC1015EF8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392096"/>
            <a:ext cx="9254857" cy="3999711"/>
          </a:xfrm>
        </p:spPr>
        <p:txBody>
          <a:bodyPr/>
          <a:lstStyle/>
          <a:p>
            <a:pPr marL="342900" lvl="2" indent="-342900">
              <a:buFont typeface="Wingdings" panose="05000000000000000000" pitchFamily="2" charset="2"/>
              <a:buChar char="v"/>
            </a:pPr>
            <a:r>
              <a:rPr lang="en-GB" dirty="0"/>
              <a:t>Challenge: Security standards exist as long-form PDF documents with complex hierarchies.</a:t>
            </a:r>
          </a:p>
          <a:p>
            <a:pPr marL="342900" lvl="2" indent="-342900">
              <a:buFont typeface="Wingdings" panose="05000000000000000000" pitchFamily="2" charset="2"/>
              <a:buChar char="v"/>
            </a:pPr>
            <a:r>
              <a:rPr lang="en-GB" dirty="0"/>
              <a:t>Problem: Difficult to query, not machine readable</a:t>
            </a:r>
          </a:p>
          <a:p>
            <a:pPr marL="342900" lvl="2" indent="-342900">
              <a:buFont typeface="Wingdings" panose="05000000000000000000" pitchFamily="2" charset="2"/>
              <a:buChar char="v"/>
            </a:pPr>
            <a:r>
              <a:rPr lang="en-GB" dirty="0"/>
              <a:t>Goal: Convert unstructured data to structure format for machine readable purpose. </a:t>
            </a:r>
          </a:p>
          <a:p>
            <a:pPr marL="342900" lvl="2" indent="-342900">
              <a:buFont typeface="Wingdings" panose="05000000000000000000" pitchFamily="2" charset="2"/>
              <a:buChar char="v"/>
            </a:pPr>
            <a:r>
              <a:rPr lang="en-GB" dirty="0"/>
              <a:t>Scope- BSI-200 standards, IEC62443, NIST82r3</a:t>
            </a:r>
          </a:p>
          <a:p>
            <a:pPr marL="342900" lvl="2" indent="-342900">
              <a:buFont typeface="Wingdings" panose="05000000000000000000" pitchFamily="2" charset="2"/>
              <a:buChar char="v"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5703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3BA2-377F-75F8-791C-64E096BD6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F913E4-E438-1D12-621B-5DE3A4D84E13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CCFB8-16DE-6B52-F86F-50A7874823B8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10A0A8-2CF0-CC61-B5D6-47574F7ADDA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Surveys</a:t>
            </a:r>
            <a:endParaRPr lang="en-DE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7EE6ADB-1E7B-C9A2-7470-1BC49CF339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3744807"/>
              </p:ext>
            </p:extLst>
          </p:nvPr>
        </p:nvGraphicFramePr>
        <p:xfrm>
          <a:off x="432292" y="1361198"/>
          <a:ext cx="9231970" cy="374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1039">
                  <a:extLst>
                    <a:ext uri="{9D8B030D-6E8A-4147-A177-3AD203B41FA5}">
                      <a16:colId xmlns:a16="http://schemas.microsoft.com/office/drawing/2014/main" val="3231511330"/>
                    </a:ext>
                  </a:extLst>
                </a:gridCol>
                <a:gridCol w="6660931">
                  <a:extLst>
                    <a:ext uri="{9D8B030D-6E8A-4147-A177-3AD203B41FA5}">
                      <a16:colId xmlns:a16="http://schemas.microsoft.com/office/drawing/2014/main" val="4206280510"/>
                    </a:ext>
                  </a:extLst>
                </a:gridCol>
              </a:tblGrid>
              <a:tr h="1429299">
                <a:tc>
                  <a:txBody>
                    <a:bodyPr/>
                    <a:lstStyle/>
                    <a:p>
                      <a:r>
                        <a:rPr lang="en-GB" b="1" dirty="0"/>
                        <a:t>Automatic extraction of requirements expressed in industrial standards: a way towards machine readable standards?</a:t>
                      </a:r>
                      <a:endParaRPr lang="en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Extracted requirements from a standards document using semantic analysis, manual/semi-automatic extraction, ontology building, and structured indexing.</a:t>
                      </a:r>
                      <a:endParaRPr lang="en-DE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291073"/>
                  </a:ext>
                </a:extLst>
              </a:tr>
              <a:tr h="1702396">
                <a:tc>
                  <a:txBody>
                    <a:bodyPr/>
                    <a:lstStyle/>
                    <a:p>
                      <a:r>
                        <a:rPr lang="en-GB" b="1" dirty="0"/>
                        <a:t>Requirements Extraction using Large Language Models / Digital Transformation of Security Standards: Requirements Extraction using Large Language Models.</a:t>
                      </a:r>
                      <a:endParaRPr lang="en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Used fine-tuned LLMs such as BERT, T5, and BART to identify and extract security requirements from standards.</a:t>
                      </a:r>
                      <a:endParaRPr lang="en-DE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397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059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689F1-B524-2DBF-FA09-3496C183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150EB-FE82-F47B-FFAD-A488EBDD13E8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9D3C8-B357-9DD3-0EEC-F08292A81CCC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EDBB59-DCA4-DBCC-73D0-D29324EE48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BSI Standard 2001 : ISMS Lifecycle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D5BFC94-642F-17EE-67EC-4FC91F67850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6399"/>
            <a:ext cx="7299933" cy="2517752"/>
          </a:xfr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/>
          <a:lstStyle/>
          <a:p>
            <a:pPr lvl="2">
              <a:buNone/>
            </a:pPr>
            <a:r>
              <a:rPr lang="en-GB" dirty="0">
                <a:solidFill>
                  <a:schemeClr val="tx1"/>
                </a:solidFill>
              </a:rPr>
              <a:t> PDCA Cycle:</a:t>
            </a:r>
          </a:p>
          <a:p>
            <a:pPr marL="342900" lvl="2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/>
                </a:solidFill>
              </a:rPr>
              <a:t>Plan: Define security objectives and strategy</a:t>
            </a:r>
          </a:p>
          <a:p>
            <a:pPr marL="342900" lvl="2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/>
                </a:solidFill>
              </a:rPr>
              <a:t>Do: Implement security concept and measures</a:t>
            </a:r>
          </a:p>
          <a:p>
            <a:pPr marL="342900" lvl="2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/>
                </a:solidFill>
              </a:rPr>
              <a:t>Check: Review effectiveness and compliance</a:t>
            </a:r>
          </a:p>
          <a:p>
            <a:pPr marL="342900" lvl="2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/>
                </a:solidFill>
              </a:rPr>
              <a:t>Act: Improve and optimize</a:t>
            </a:r>
            <a:endParaRPr lang="en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33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9F8D4-5C2F-3B30-C4F2-B2A6ACD1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10EBB4-BB64-53A2-7C90-2CCC0657F872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80AEFA-C8FE-857C-7E63-2F94E1359479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AA6DEF-A5CB-CE32-BE4E-BCF9508EFB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NIST Operational Technology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D1B7BF8-C241-EC86-C333-BEB861B2B1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83324" y="1592317"/>
            <a:ext cx="7386145" cy="2845676"/>
          </a:xfr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lvl="2">
              <a:buNone/>
            </a:pPr>
            <a:r>
              <a:rPr lang="en-GB" dirty="0">
                <a:solidFill>
                  <a:schemeClr val="tx1"/>
                </a:solidFill>
              </a:rPr>
              <a:t> Five Core Functions</a:t>
            </a:r>
          </a:p>
          <a:p>
            <a:pPr marL="342900" lvl="2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/>
                </a:solidFill>
              </a:rPr>
              <a:t>Identify: Understand cyber risks</a:t>
            </a:r>
          </a:p>
          <a:p>
            <a:pPr marL="342900" lvl="2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/>
                </a:solidFill>
              </a:rPr>
              <a:t>Protect: Safeguard critical assets</a:t>
            </a:r>
          </a:p>
          <a:p>
            <a:pPr marL="342900" lvl="2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/>
                </a:solidFill>
              </a:rPr>
              <a:t>Detect: Monitor for incidents</a:t>
            </a:r>
          </a:p>
          <a:p>
            <a:pPr marL="342900" lvl="2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/>
                </a:solidFill>
              </a:rPr>
              <a:t>Respond: Act on detected events</a:t>
            </a:r>
          </a:p>
          <a:p>
            <a:pPr marL="342900" lvl="2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/>
                </a:solidFill>
              </a:rPr>
              <a:t>Recover: Restore normal operations</a:t>
            </a:r>
            <a:endParaRPr lang="en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668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A87D-153C-0B79-EC2A-A60B352B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B5BF3-D753-A773-3F74-14F636274339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93ED65-5623-6AE0-2798-05D039E08FD5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45747C-6690-47C1-C196-6CF1FCDDAB4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ETL Architecture</a:t>
            </a:r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8361D-5FBC-29F6-E2F1-0AC8D9FB1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95" y="2168524"/>
            <a:ext cx="6701056" cy="16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8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43B18-8E47-1C27-53C6-A396AEB5A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1595C-5776-D79A-4AF9-B75FE136609D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ED5646-3AE2-0F61-FAE6-16912F4BE137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1E977B-363C-A147-1AE2-6FC13C507E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Transformation: NLP Classification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F862752-4FA6-741F-0394-1F7FAC04A7C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463040"/>
            <a:ext cx="9128733" cy="3321794"/>
          </a:xfrm>
        </p:spPr>
        <p:txBody>
          <a:bodyPr/>
          <a:lstStyle/>
          <a:p>
            <a:r>
              <a:rPr lang="en-GB" dirty="0"/>
              <a:t>Method: TF-IDF vectorization + cosine similarity</a:t>
            </a:r>
          </a:p>
          <a:p>
            <a:r>
              <a:rPr lang="en-GB" dirty="0"/>
              <a:t>Input: Text segments from extracted PDFs</a:t>
            </a:r>
          </a:p>
          <a:p>
            <a:r>
              <a:rPr lang="en-GB" dirty="0"/>
              <a:t>Process: Compare text against lifecycle phase descriptions</a:t>
            </a:r>
          </a:p>
          <a:p>
            <a:r>
              <a:rPr lang="en-GB" dirty="0"/>
              <a:t>Output: Assigned lifecycle phase (Plan, Do, Check, Act) or (Identify, Protect, Detect, Respond, Recover)</a:t>
            </a:r>
          </a:p>
          <a:p>
            <a:r>
              <a:rPr lang="en-GB" dirty="0"/>
              <a:t>Benefit: Automatic classification without manual tagging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1835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C5153-4DCF-696E-F724-EE2B122D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0CA81-A423-B8AA-2B48-2E1079DF63DE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737A1-1E34-B634-D6A8-2C45EFE1A4AE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503887-4113-EC5F-E693-82B19E70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7428" y="772510"/>
            <a:ext cx="9081044" cy="626072"/>
          </a:xfrm>
        </p:spPr>
        <p:txBody>
          <a:bodyPr/>
          <a:lstStyle/>
          <a:p>
            <a:r>
              <a:rPr lang="en-GB" dirty="0"/>
              <a:t>JSON Output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592B41-8E57-47C3-BDC8-5539E5148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221" y="1517539"/>
            <a:ext cx="4265611" cy="681035"/>
          </a:xfrm>
        </p:spPr>
        <p:txBody>
          <a:bodyPr>
            <a:normAutofit/>
          </a:bodyPr>
          <a:lstStyle/>
          <a:p>
            <a:r>
              <a:rPr lang="en-GB" sz="2000" b="0" dirty="0"/>
              <a:t>BSI JSON</a:t>
            </a:r>
            <a:endParaRPr lang="en-DE" sz="2000" b="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463913E-68C9-4583-CF55-B62766A43F58}"/>
              </a:ext>
            </a:extLst>
          </p:cNvPr>
          <p:cNvPicPr>
            <a:picLocks noGrp="1" noChangeAspect="1"/>
          </p:cNvPicPr>
          <p:nvPr>
            <p:ph idx="2"/>
          </p:nvPr>
        </p:nvPicPr>
        <p:blipFill>
          <a:blip r:embed="rId3"/>
          <a:stretch>
            <a:fillRect/>
          </a:stretch>
        </p:blipFill>
        <p:spPr>
          <a:xfrm>
            <a:off x="228221" y="2317531"/>
            <a:ext cx="4773497" cy="2843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974B03-10D2-34B0-B537-F8E8FEC7CD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103814" y="1517538"/>
            <a:ext cx="4284658" cy="681035"/>
          </a:xfrm>
        </p:spPr>
        <p:txBody>
          <a:bodyPr>
            <a:normAutofit/>
          </a:bodyPr>
          <a:lstStyle/>
          <a:p>
            <a:r>
              <a:rPr lang="en-GB" sz="2000" b="0" dirty="0"/>
              <a:t>NIST JSON</a:t>
            </a:r>
            <a:endParaRPr lang="en-DE" sz="2000" b="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EC0E6BD-388A-DC7F-EA1E-2F088B4BAEA4}"/>
              </a:ext>
            </a:extLst>
          </p:cNvPr>
          <p:cNvPicPr>
            <a:picLocks noGrp="1" noChangeAspect="1"/>
          </p:cNvPicPr>
          <p:nvPr>
            <p:ph idx="4"/>
          </p:nvPr>
        </p:nvPicPr>
        <p:blipFill>
          <a:blip r:embed="rId4"/>
          <a:stretch>
            <a:fillRect/>
          </a:stretch>
        </p:blipFill>
        <p:spPr>
          <a:xfrm>
            <a:off x="5103812" y="2263488"/>
            <a:ext cx="4662925" cy="28978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163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28DC8-8AC6-5D4D-0F87-06CA5680B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815896-4018-E885-9773-90A097CF7FB0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ACC74B-9547-19F6-9A3D-5A2C72498A57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4A33B-B67F-F2B2-796F-048C1C60A1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Database Integration</a:t>
            </a:r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C56D7-1368-87F5-4591-A2DE5A5D6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283" y="1442542"/>
            <a:ext cx="7751123" cy="3695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7434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BD256-D182-032F-1507-9D976188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47537-A35E-E311-862A-8C3D15D4D315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5FC9CA-E20F-7EA4-C66A-9240F966CB81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10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62B45D-F642-738B-D766-132F0B618F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Possible Use Cases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D06A44-D17D-86AE-0BCA-1001D9F44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999626"/>
              </p:ext>
            </p:extLst>
          </p:nvPr>
        </p:nvGraphicFramePr>
        <p:xfrm>
          <a:off x="654269" y="1525301"/>
          <a:ext cx="9031597" cy="36898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6683">
                  <a:extLst>
                    <a:ext uri="{9D8B030D-6E8A-4147-A177-3AD203B41FA5}">
                      <a16:colId xmlns:a16="http://schemas.microsoft.com/office/drawing/2014/main" val="31002359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286765308"/>
                    </a:ext>
                  </a:extLst>
                </a:gridCol>
                <a:gridCol w="3537314">
                  <a:extLst>
                    <a:ext uri="{9D8B030D-6E8A-4147-A177-3AD203B41FA5}">
                      <a16:colId xmlns:a16="http://schemas.microsoft.com/office/drawing/2014/main" val="2792622075"/>
                    </a:ext>
                  </a:extLst>
                </a:gridCol>
              </a:tblGrid>
              <a:tr h="410998">
                <a:tc>
                  <a:txBody>
                    <a:bodyPr/>
                    <a:lstStyle/>
                    <a:p>
                      <a:r>
                        <a:rPr lang="en-GB" b="1" dirty="0"/>
                        <a:t>      Use Cases </a:t>
                      </a:r>
                      <a:endParaRPr lang="en-DE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Users</a:t>
                      </a:r>
                      <a:endParaRPr lang="en-DE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Technologies</a:t>
                      </a:r>
                      <a:endParaRPr lang="en-DE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465904"/>
                  </a:ext>
                </a:extLst>
              </a:tr>
              <a:tr h="824463">
                <a:tc>
                  <a:txBody>
                    <a:bodyPr/>
                    <a:lstStyle/>
                    <a:p>
                      <a:r>
                        <a:rPr lang="en-DE" sz="1600" i="1" dirty="0"/>
                        <a:t>Automated Security Requirement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Security Engineers</a:t>
                      </a:r>
                      <a:endParaRPr lang="en-DE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LLM, Requirement Documents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287860"/>
                  </a:ext>
                </a:extLst>
              </a:tr>
              <a:tr h="824463">
                <a:tc>
                  <a:txBody>
                    <a:bodyPr/>
                    <a:lstStyle/>
                    <a:p>
                      <a:r>
                        <a:rPr lang="en-GB" i="1" dirty="0"/>
                        <a:t>Interactive Query System</a:t>
                      </a:r>
                      <a:endParaRPr lang="en-DE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Students, Teachers</a:t>
                      </a:r>
                      <a:endParaRPr lang="en-DE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Database, APIs</a:t>
                      </a:r>
                      <a:endParaRPr lang="en-DE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056793"/>
                  </a:ext>
                </a:extLst>
              </a:tr>
              <a:tr h="805472">
                <a:tc>
                  <a:txBody>
                    <a:bodyPr/>
                    <a:lstStyle/>
                    <a:p>
                      <a:r>
                        <a:rPr lang="en-GB" i="1" dirty="0"/>
                        <a:t>Compliance Gap Analysis</a:t>
                      </a:r>
                      <a:endParaRPr lang="en-DE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Cybersecurity Analyst, Data Engineers</a:t>
                      </a:r>
                      <a:endParaRPr lang="en-DE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Database, </a:t>
                      </a:r>
                      <a:r>
                        <a:rPr lang="en-GB" i="1" dirty="0" err="1"/>
                        <a:t>PowerBI</a:t>
                      </a:r>
                      <a:r>
                        <a:rPr lang="en-GB" i="1" dirty="0"/>
                        <a:t> </a:t>
                      </a:r>
                      <a:endParaRPr lang="en-DE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698789"/>
                  </a:ext>
                </a:extLst>
              </a:tr>
              <a:tr h="824463">
                <a:tc>
                  <a:txBody>
                    <a:bodyPr/>
                    <a:lstStyle/>
                    <a:p>
                      <a:r>
                        <a:rPr lang="en-GB" i="1" dirty="0"/>
                        <a:t>Automate Test Case Generation</a:t>
                      </a:r>
                      <a:endParaRPr lang="en-DE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Consultants, Managers</a:t>
                      </a:r>
                      <a:endParaRPr lang="en-DE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Web Application– Flask or Django</a:t>
                      </a:r>
                      <a:endParaRPr lang="en-DE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76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163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85317-8002-383D-21D3-9E65E3DE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064763-387C-F9B6-6F9D-376822599006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FB99CE-B6E0-3051-F92A-04784D0BDFE6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11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C779DA-F9DA-D767-4E88-97E8C671D3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Things need to be discussed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2B1387-38E8-953C-4E2C-37B71A4E175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463040"/>
            <a:ext cx="9128733" cy="3321794"/>
          </a:xfrm>
        </p:spPr>
        <p:txBody>
          <a:bodyPr/>
          <a:lstStyle/>
          <a:p>
            <a:r>
              <a:rPr lang="en-GB" dirty="0"/>
              <a:t>IEC62443 – cannot be scraped because of copyright licensing. </a:t>
            </a:r>
          </a:p>
          <a:p>
            <a:r>
              <a:rPr lang="en-GB" dirty="0"/>
              <a:t>Validating the database. </a:t>
            </a:r>
          </a:p>
          <a:p>
            <a:r>
              <a:rPr lang="en-GB" dirty="0"/>
              <a:t>More standards like ITIL can be incorporated. </a:t>
            </a:r>
          </a:p>
          <a:p>
            <a:r>
              <a:rPr lang="en-GB" dirty="0"/>
              <a:t>Discussion on interactive dashboard with LLM(RAG) Applications.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12648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438A6-6BAE-BE9C-781F-90989B48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E8F11-C90D-A6B0-E0EA-7193F66396D8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0CE04-582E-DDA1-17BE-8AAD5017A711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12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066E66-498B-C3E7-54FA-7A597EDD8B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4A4A6FF-550D-2CD2-38C3-E94E0BBD32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463040"/>
            <a:ext cx="9128733" cy="332179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Automatic extraction of requirements expressed in industrial standards: a way towards machine readable standards?</a:t>
            </a:r>
            <a:endParaRPr lang="en-DE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Requirements Extraction using Large Language Models / Digital Transformation of Security Standards: Requirements Extraction using Large Language Models.</a:t>
            </a:r>
          </a:p>
          <a:p>
            <a:pPr marL="457200" indent="-457200">
              <a:buFont typeface="+mj-lt"/>
              <a:buAutoNum type="arabicPeriod"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43157360"/>
      </p:ext>
    </p:extLst>
  </p:cSld>
  <p:clrMapOvr>
    <a:masterClrMapping/>
  </p:clrMapOvr>
</p:sld>
</file>

<file path=ppt/theme/theme1.xml><?xml version="1.0" encoding="utf-8"?>
<a:theme xmlns:a="http://schemas.openxmlformats.org/drawingml/2006/main" name="Inha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el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Custom</PresentationFormat>
  <Paragraphs>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</vt:lpstr>
      <vt:lpstr>Liberation Sans</vt:lpstr>
      <vt:lpstr>Liberation Serif</vt:lpstr>
      <vt:lpstr>OpenSymbol</vt:lpstr>
      <vt:lpstr>Roboto</vt:lpstr>
      <vt:lpstr>Roboto:frac=1&amp;smcp</vt:lpstr>
      <vt:lpstr>StarSymbol</vt:lpstr>
      <vt:lpstr>Wingdings</vt:lpstr>
      <vt:lpstr>Inhalt</vt:lpstr>
      <vt:lpstr>Titelfolie</vt:lpstr>
      <vt:lpstr>Structuring Industrial Security Standards for Machine-Readable Analysis </vt:lpstr>
      <vt:lpstr>Problem Statement</vt:lpstr>
      <vt:lpstr>Some Surveys</vt:lpstr>
      <vt:lpstr>BSI Standard 2001 : ISMS Lifecycle</vt:lpstr>
      <vt:lpstr>NIST Operational Technology</vt:lpstr>
      <vt:lpstr>ETL Architecture</vt:lpstr>
      <vt:lpstr>Transformation: NLP Classification</vt:lpstr>
      <vt:lpstr>JSON Output</vt:lpstr>
      <vt:lpstr>Database Integration</vt:lpstr>
      <vt:lpstr>Possible Use Cases</vt:lpstr>
      <vt:lpstr>Things need to be discussed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dipan banerjee</dc:creator>
  <cp:lastModifiedBy>Dipan Banerjee</cp:lastModifiedBy>
  <cp:revision>15</cp:revision>
  <dcterms:created xsi:type="dcterms:W3CDTF">2019-10-29T10:44:45Z</dcterms:created>
  <dcterms:modified xsi:type="dcterms:W3CDTF">2026-03-19T12:15:17Z</dcterms:modified>
</cp:coreProperties>
</file>