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handoutMasterIdLst>
    <p:handoutMasterId r:id="rId12"/>
  </p:handoutMasterIdLst>
  <p:sldIdLst>
    <p:sldId id="256" r:id="rId3"/>
    <p:sldId id="281" r:id="rId4"/>
    <p:sldId id="277" r:id="rId5"/>
    <p:sldId id="275" r:id="rId6"/>
    <p:sldId id="282" r:id="rId7"/>
    <p:sldId id="283" r:id="rId8"/>
    <p:sldId id="279" r:id="rId9"/>
    <p:sldId id="280" r:id="rId10"/>
  </p:sldIdLst>
  <p:sldSz cx="10080625" cy="5670550"/>
  <p:notesSz cx="7772400" cy="100584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660"/>
  </p:normalViewPr>
  <p:slideViewPr>
    <p:cSldViewPr snapToGrid="0">
      <p:cViewPr varScale="1">
        <p:scale>
          <a:sx n="97" d="100"/>
          <a:sy n="97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7ADB4B-0066-80AE-88DE-E41AAA08767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BBF29-3B44-438B-A91F-2F8E9DA96DD9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196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70095-0F81-DC60-E59B-6D55AA6AA4AD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E677D-4622-2B7D-BB12-B791CB2C268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E3709D1-F1DD-4437-B873-D406EF16BBA4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087166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ECDA7-C3A8-06D7-F068-4F8537496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15" y="764282"/>
            <a:ext cx="6704636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73F09-03BF-0E5F-B1D4-31159634B96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40" y="4777557"/>
            <a:ext cx="6217563" cy="45259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A3856D7-A8D8-7878-9369-A19E0980FC8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12641-30D4-C543-1E78-C528D7E2558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196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A89E5-5492-0E98-43FF-D4A8BE204BB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9293F-D66F-23CB-4A6E-07E0644708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62C876FF-0F98-4461-9741-A5EB327176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97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322A9C4-058A-F170-CCB8-C44D66F025F1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9B6291-7C39-481B-9C1D-26FF42D8F14B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B2A2C4A-97C4-2EAD-A76D-0877E82CE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B38FCA7B-294A-269F-BFDD-8DD65BDFD18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720BD-7BAF-D9A4-E376-DE3D5A90A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CE99396-FD14-B795-2E78-228EB9C4FB60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77751321-D07F-7823-5057-CD904E02C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3AD75A9E-5C69-47F9-3AEF-7709D5E205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70000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0326F-A94B-2A5D-2754-948A4EAD3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3F8B8B3-30B4-CF13-9191-3F14B3B6E7B7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9FBD582-BAF0-7F85-EAF7-65A1A9BED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EF9E6A2-05B7-5E32-CF0D-E2ABB648CE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36136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9DF2-3CD1-FB01-6D84-95A37BC04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81045D6-8F65-176D-9107-1C57B2E53ED2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BC7A96CC-1B1B-033E-6ACF-025A42C19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2D9F153-A14F-97E0-CDAA-C39B2D502F3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0873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B64CC-F3F0-4141-0460-71F2D86D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D2F3259-8E2F-2485-935D-0CA8C240A1DE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9FA845F6-9776-2457-04AE-13BD4C2BE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1B70E66-7876-9C67-A5F4-6842BCEF7C6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38860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D55A-4C49-458C-F518-46BE4BE90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F50BE2C-BB33-61F0-B4A1-76910505809C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48699222-0A8D-34F8-4C55-5234A82D0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72037B96-7212-D975-A182-83F2ACACAD8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5651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4577A-F90E-4363-0A1B-4C3938E5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2598AE0-18C6-EDD0-5955-72F75E5612EF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D042C49-947C-D4EA-0C69-60CE2D41B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C1F685C-7326-803C-9F6C-AF2DD6AC01D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1034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0DDF5-788E-E50E-4416-7818E2180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C1EFE1E-F90D-D950-2FA6-AE68AEF34AEB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6B8B5916-03F2-E079-CF92-31DD082B1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521245B-8B2E-666E-9DC9-BD2918C1E0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804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0692-D582-2F05-E6E1-75FA21AC24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65ABE-6A03-70D0-92EB-5A2627253F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E0434-2803-A8B0-2A4C-E14985E97AC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D409C-70C5-4D19-8F5C-953B5C43B16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7A69B3-CB82-48A4-85DC-DB28B576C7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8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A4DFA-56A8-A429-BB0A-03AB366B05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2BE78-A7A5-C53C-79E0-E0BB6D97237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46AE2-6A71-CC5C-B3C1-FCA0FBEF6FA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F5F15-9115-F38D-A2D2-CF33FB413F3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8D6634-5E44-4BFE-8C0C-4E32CDC28DD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8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28E96-9306-2AC7-5D59-0057A8D5C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694A1-89C8-2383-E71D-F09DBA6B5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FC8C6-B589-8D28-762B-4BD12F167A3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8442E9-6C1D-5BBE-6FF0-341BB8B564B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C6EC41-B1FB-40ED-B3CA-EAEEB8A0FC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1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79AD-E879-2C21-6EBF-730FB99BA61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CDDF-F509-BA6C-0D60-820167E81C0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1463670"/>
            <a:ext cx="4459291" cy="4114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8C37E-72B9-2BA7-CC06-6E3A8C1C6E1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1463670"/>
            <a:ext cx="4460872" cy="4114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C2506-4356-DC3E-1033-D9EE85C8D5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694D4-A99E-4BCB-FF32-D559DECE357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093AF5-B7C8-49F7-AD50-244FB35223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78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2374-F860-FD29-0BE6-18E521D52B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56535-6240-CB08-A4C7-AAC4E7827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18BF4-C6D5-3F0E-5241-F5989C0471B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CCF9B-2DE2-4FF3-9605-4244221185CD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65416-4190-CC53-106F-80A968E6104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58252A-B0CA-5927-4128-285E93AEDC9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E75EB1-8997-93A4-1BBA-8409A0EC66A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F0F5E4-7714-48B3-BC87-5ED985E3193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8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1549-F8A8-5860-C55E-5BE6DC7BAF2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A75F9-A035-C691-CA77-7C3B65DD0A1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11A37-B070-519D-D972-53B4F8CC6B2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AD336F7-0458-41A4-BD70-F426082592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82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229E8A-EC55-27B8-683B-4B39300CC6E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D67047-A896-27F8-6BBF-F15CBDC55EE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A031C5-4224-4C08-8D79-4AE8468A35F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303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3C84-D9D0-1C5D-649A-F0529D55D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F807D-2442-BBD9-BE44-2AA7E8FB151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CA880-3D79-6C1D-FE7A-DE9AD82F09C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E0A4F-C16D-9447-6361-BBB53B537D1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2591E-EF53-1E1F-7FB0-A19AB4AC37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DB112C-0D5A-4A56-B951-2E51CB20551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7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3E0C-4CC1-6057-DF6D-E828D84F59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28CD-E2BA-5690-0DF6-850E550BE65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39B6B-1901-21B3-B270-AB0F1F74AF2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3E415-B17E-9D9C-D4F3-40A416C9CFA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8ACDB-ACB6-526E-A4EC-32CBEA49FB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514BC18-A0FC-4D3C-9995-2BDDD27916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9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84B9-F1B1-453F-D79E-23E4B256B74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28298-4D3C-40F2-CBD5-34B5E758A62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FB841-11AE-DB00-E2AB-C02353997CA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CE52C-1D19-1480-38D3-95A8C888951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CD21F2-7F5F-4479-A848-31E033094B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94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F86DA-83E6-5622-0B7A-359E73E162E9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08854" y="801691"/>
            <a:ext cx="2266953" cy="477678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2B167-181F-FB00-68BD-BA58A15B2EB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801691"/>
            <a:ext cx="6653210" cy="477678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0E4E7-BBE7-BEB9-D85F-E19340A549C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90E01-4B5B-E885-AFB5-30696B386D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1DBD68-169B-4B72-8FFE-DAD6733BBA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57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9DCE4-9602-1954-C57E-A51213F0C30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6605A-0FB7-6269-A6C6-72CB20FB64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114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FA53-C44E-B783-0358-79C31043AF5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3E10F-836F-1B6D-FAB8-C192278D0E3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298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93E9-7C0A-63E7-A4FC-50276A0AC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B763B-80A2-CC1E-8D09-EDE7E8E8C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3864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49C7-3275-D0A1-08AC-D51EA6185C5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C57F8-E6BD-AD05-AB5F-60A868B9B64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4022729"/>
            <a:ext cx="4459291" cy="153352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E6BAE-169E-0E0A-99E6-1ED153E461C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4022729"/>
            <a:ext cx="4460872" cy="153352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507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9007-141D-A4D5-CED8-FBF2E88406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96B6F-6CCB-399E-3B9F-A5B7F5DC66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2E011-684B-7427-F1D5-CDF35EC8412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7C219-7646-F80C-0E91-D773877F541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6E523-9128-5C6B-A578-F094D92BE439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2439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979D-B5EA-4ABF-DAB9-3CE486FFCEA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437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51812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022D-E63C-ADED-BF8F-47B1E6FD3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9D4CE-DF31-48F6-09ED-660365C5235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601D2-8616-B8DC-31CF-4CDC9D06CFD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95932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CF0F-ACEF-9614-532D-A0784F8383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9778C2-90E2-E62F-D3D1-38E6DCC0DE1D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5742C-90C0-1A3D-93BD-B6E2DC8ED2C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7649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44A5-B15B-07D7-570C-38386DAC66E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32055-F634-6506-5F2B-147E9D7FC33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40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CFB7CD-6551-E97F-0F07-664C45C0186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27901" y="2339977"/>
            <a:ext cx="2273298" cy="3216273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C74AF-EF8C-6967-3381-733C15F9BFE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2339977"/>
            <a:ext cx="6672257" cy="3216273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11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A9C5BE-15A1-8A06-FB39-381A4CAB9D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8" y="802084"/>
            <a:ext cx="9071643" cy="4780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3EA96-B93F-6BC0-9C73-78C4192D6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1463040"/>
            <a:ext cx="9071643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68095-6E50-1BA7-8BD4-5BE018B4CFB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F1455-F14E-6A5E-6F2C-20FB7DE2E52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defRPr>
            </a:lvl1pPr>
          </a:lstStyle>
          <a:p>
            <a:pPr lvl="0"/>
            <a:fld id="{BAAFB518-8F45-40CF-958A-A644436AFACC}" type="slidenum">
              <a:t>‹#›</a:t>
            </a:fld>
            <a:endParaRPr lang="en-US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4307DBA-4F74-FA31-04EE-2FF85A055EE1}"/>
              </a:ext>
            </a:extLst>
          </p:cNvPr>
          <p:cNvSpPr/>
          <p:nvPr/>
        </p:nvSpPr>
        <p:spPr>
          <a:xfrm>
            <a:off x="0" y="731520"/>
            <a:ext cx="1007999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36722" cap="flat">
            <a:solidFill>
              <a:srgbClr val="0073C0"/>
            </a:solidFill>
            <a:prstDash val="solid"/>
            <a:miter/>
          </a:ln>
        </p:spPr>
        <p:txBody>
          <a:bodyPr vert="horz" wrap="square" lIns="18361" tIns="18361" rIns="18361" bIns="18361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A6A9D4-19A3-F0C0-A096-07301A440B9D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alphaModFix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503998" y="91440"/>
            <a:ext cx="3513956" cy="58824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2FB32D1-2C4D-3477-3C58-EBF11C522819}"/>
              </a:ext>
            </a:extLst>
          </p:cNvPr>
          <p:cNvSpPr/>
          <p:nvPr/>
        </p:nvSpPr>
        <p:spPr>
          <a:xfrm>
            <a:off x="8706240" y="0"/>
            <a:ext cx="0" cy="1828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18361" cap="flat">
            <a:solidFill>
              <a:srgbClr val="0073C0"/>
            </a:solidFill>
            <a:prstDash val="solid"/>
            <a:miter/>
          </a:ln>
        </p:spPr>
        <p:txBody>
          <a:bodyPr vert="horz" wrap="square" lIns="9363" tIns="9363" rIns="9363" bIns="9363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2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:frac=1&amp;smcp" pitchFamily="2"/>
          <a:ea typeface="DejaVu Sans" pitchFamily="2"/>
          <a:cs typeface="FreeSans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❖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1pPr>
      <a:lvl2pPr marL="0" marR="0" lvl="1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2pPr>
      <a:lvl3pPr marL="0" marR="0" lvl="2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3pPr>
      <a:lvl4pPr marL="0" marR="0" lvl="3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4pPr>
      <a:lvl5pPr marL="0" marR="0" lvl="4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5pPr>
      <a:lvl6pPr marL="0" marR="0" lvl="5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6pPr>
      <a:lvl7pPr marL="0" marR="0" lvl="6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5EB0B3B-C01D-A82C-1F7D-9D81A90A1F53}"/>
              </a:ext>
            </a:extLst>
          </p:cNvPr>
          <p:cNvSpPr/>
          <p:nvPr/>
        </p:nvSpPr>
        <p:spPr>
          <a:xfrm>
            <a:off x="0" y="3931920"/>
            <a:ext cx="10079998" cy="173808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073C0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FFFFFF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F252B72-CDAB-D5D4-2366-A1D74C024C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556" y="2339638"/>
            <a:ext cx="9071643" cy="9464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A4895-697C-5E7C-50FB-280A5EAC6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4023360"/>
            <a:ext cx="9071643" cy="15325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7B6CFBD-8A93-9A7F-34EF-3EC0F7741EF0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alphaModFix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486716" y="506156"/>
            <a:ext cx="9106921" cy="1524597"/>
          </a:xfrm>
          <a:prstGeom prst="rect">
            <a:avLst/>
          </a:prstGeom>
          <a:noFill/>
          <a:ln cap="flat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2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:frac=1&amp;smcp" pitchFamily="2"/>
          <a:ea typeface="DejaVu Sans" pitchFamily="2"/>
          <a:cs typeface="FreeSans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1pPr>
      <a:lvl2pPr marL="0" marR="0" lvl="1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2pPr>
      <a:lvl3pPr marL="0" marR="0" lvl="2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3pPr>
      <a:lvl4pPr marL="0" marR="0" lvl="3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4pPr>
      <a:lvl5pPr marL="0" marR="0" lvl="4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5pPr>
      <a:lvl6pPr marL="0" marR="0" lvl="5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6pPr>
      <a:lvl7pPr marL="0" marR="0" lvl="6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CA48A-D3AD-42F0-2E0B-D8E87F50A89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29556" y="2166527"/>
            <a:ext cx="9071643" cy="1292662"/>
          </a:xfrm>
        </p:spPr>
        <p:txBody>
          <a:bodyPr>
            <a:spAutoFit/>
          </a:bodyPr>
          <a:lstStyle/>
          <a:p>
            <a:r>
              <a:rPr lang="en-GB" b="1" dirty="0"/>
              <a:t>Structuring Industrial Security Standards for Machine-Readable Analysis</a:t>
            </a:r>
            <a:br>
              <a:rPr lang="en-GB" dirty="0"/>
            </a:b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967A8-AC6D-B826-7E5E-3720664F84A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anchor="ctr" anchorCtr="1"/>
          <a:lstStyle/>
          <a:p>
            <a:pPr>
              <a:buNone/>
            </a:pPr>
            <a:r>
              <a:rPr lang="en-GB" dirty="0"/>
              <a:t>Dipan Banerjee</a:t>
            </a:r>
            <a:endParaRPr lang="en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0E863-BD77-0069-555A-209997C6D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3576D4-D9AC-209A-9F98-E36A612B3DB2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0B224E-B0D2-6AF7-7E08-EB84517AEEA3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F933DF-C558-82CB-2C1F-FE2809AC26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Recap -Database Now</a:t>
            </a:r>
            <a:endParaRPr lang="en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8B883E-E13A-1949-BBEE-24A1AC905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19" y="1525389"/>
            <a:ext cx="4610500" cy="38179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745452-D714-1FC6-D20B-74B1A4C84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4758" y="1439391"/>
            <a:ext cx="4523619" cy="2288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635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D1A9-411C-CEFD-1C8F-9A934480C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4460A0-32F9-7B67-2203-07654849B04D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07.11.2019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F6801F-B001-74A1-D223-E2CBB3C0B5DC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5C3185-8688-4336-A389-2A73EF61C85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Recap-Results</a:t>
            </a:r>
            <a:endParaRPr lang="en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0CB591-B707-6B3F-9F7B-2C5BEDBDE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88" y="1691639"/>
            <a:ext cx="9071643" cy="305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4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CEC97-7435-7714-0F86-3A0CA269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AA9EF-35AA-9A81-47BB-5F855F681398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A05E84-F570-D6CE-B825-3D9A9620C8BF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CBBD4E-C9AB-0A92-8D16-81E214AC646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Overall System Architecture </a:t>
            </a:r>
            <a:endParaRPr lang="en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8321C6-01B3-FE08-D76D-932168019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945" y="1280159"/>
            <a:ext cx="6345073" cy="42300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4528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176B9-7470-B745-2E38-FD8DE304D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B3F17E-B92B-EB9D-6308-00093ED9EE67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BB512D-B5ED-1417-36CF-7E1B5CF110A8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65A77B-0139-8F56-C0B5-2C12DFC33C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Backend Modular Coding </a:t>
            </a:r>
            <a:endParaRPr lang="en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F324EB-B17C-8054-B264-6FA455D36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98" y="1545021"/>
            <a:ext cx="3558824" cy="36998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971F17-B6AD-3948-B5F3-D12B311E0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042" y="1545020"/>
            <a:ext cx="2766848" cy="37232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6962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81B66-FBD2-BAE7-77CF-7B17536C9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F34FBC-4573-A0F3-DA61-54D3670DF62B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B31D9C-417B-8812-408C-98FC2717DB86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275193-F32D-CEC0-5548-883B199717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 err="1"/>
              <a:t>Streamlit</a:t>
            </a:r>
            <a:r>
              <a:rPr lang="en-GB" dirty="0"/>
              <a:t> App </a:t>
            </a:r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6043CF-3C9E-E623-F1D1-88A0BD542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92" y="1483141"/>
            <a:ext cx="3994611" cy="17578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FEAFA1-5C9C-7035-8C74-D582AFAED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394" y="1341027"/>
            <a:ext cx="5292739" cy="18753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BF8BB3-C386-57CD-FACC-A3ED51AAA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499" y="3332939"/>
            <a:ext cx="4093719" cy="1128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848F0B-2AE8-A52E-4750-9AA9EFF897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6972" y="3332939"/>
            <a:ext cx="4998669" cy="17284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213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39879-EF76-82A7-292B-65753AA9A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892C21-EFB1-FF2D-A6F5-DBBD1DA78106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FC3BA6-BB8B-CE31-389A-AC4BBDA032F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Topics of Discussion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7655230-269E-0433-0C95-23A91D6984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8372" y="1505606"/>
            <a:ext cx="8600090" cy="3362859"/>
          </a:xfrm>
        </p:spPr>
        <p:txBody>
          <a:bodyPr/>
          <a:lstStyle/>
          <a:p>
            <a:pPr marL="342900" lvl="2" indent="-342900"/>
            <a:r>
              <a:rPr lang="en-DE" i="1" dirty="0"/>
              <a:t>Retrieval Evaluation</a:t>
            </a:r>
            <a:r>
              <a:rPr lang="en-GB" i="1" dirty="0"/>
              <a:t> – Did the system retrieve the correct requirements. (</a:t>
            </a:r>
            <a:r>
              <a:rPr lang="en-GB" i="1" dirty="0" err="1"/>
              <a:t>Precision@k</a:t>
            </a:r>
            <a:r>
              <a:rPr lang="en-GB" i="1" dirty="0"/>
              <a:t>, </a:t>
            </a:r>
            <a:r>
              <a:rPr lang="en-GB" i="1" dirty="0" err="1"/>
              <a:t>recall@k</a:t>
            </a:r>
            <a:r>
              <a:rPr lang="en-GB" i="1" dirty="0"/>
              <a:t>, MRR).</a:t>
            </a:r>
          </a:p>
          <a:p>
            <a:pPr marL="342900" lvl="2" indent="-342900"/>
            <a:r>
              <a:rPr lang="en-GB" i="1" dirty="0"/>
              <a:t>Similarity score with human validation accuracy. </a:t>
            </a:r>
          </a:p>
          <a:p>
            <a:pPr marL="342900" lvl="2" indent="-342900"/>
            <a:r>
              <a:rPr lang="en-GB" i="1" dirty="0"/>
              <a:t>How this app will be helpful for organizations solving compliance issues?</a:t>
            </a:r>
          </a:p>
          <a:p>
            <a:pPr marL="342900" lvl="2" indent="-342900"/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2532464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6DEA3-BF01-05CC-3A61-60A0543C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2623E5-2026-D8D9-0A75-8F7AD54E4458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8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ED28DCE-74FC-78C7-0B34-0F95DD813E7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2737" y="2561896"/>
            <a:ext cx="8600090" cy="1746893"/>
          </a:xfrm>
        </p:spPr>
        <p:txBody>
          <a:bodyPr/>
          <a:lstStyle/>
          <a:p>
            <a:pPr lvl="2" algn="ctr">
              <a:buNone/>
            </a:pPr>
            <a:r>
              <a:rPr lang="en-GB" i="1" dirty="0"/>
              <a:t>Thank you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2340039046"/>
      </p:ext>
    </p:extLst>
  </p:cSld>
  <p:clrMapOvr>
    <a:masterClrMapping/>
  </p:clrMapOvr>
</p:sld>
</file>

<file path=ppt/theme/theme1.xml><?xml version="1.0" encoding="utf-8"?>
<a:theme xmlns:a="http://schemas.openxmlformats.org/drawingml/2006/main" name="Inha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el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Custom</PresentationFormat>
  <Paragraphs>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Calibri</vt:lpstr>
      <vt:lpstr>Liberation Sans</vt:lpstr>
      <vt:lpstr>Liberation Serif</vt:lpstr>
      <vt:lpstr>OpenSymbol</vt:lpstr>
      <vt:lpstr>Roboto</vt:lpstr>
      <vt:lpstr>Roboto:frac=1&amp;smcp</vt:lpstr>
      <vt:lpstr>StarSymbol</vt:lpstr>
      <vt:lpstr>Inhalt</vt:lpstr>
      <vt:lpstr>Titelfolie</vt:lpstr>
      <vt:lpstr>Structuring Industrial Security Standards for Machine-Readable Analysis </vt:lpstr>
      <vt:lpstr>Recap -Database Now</vt:lpstr>
      <vt:lpstr>Recap-Results</vt:lpstr>
      <vt:lpstr>Overall System Architecture </vt:lpstr>
      <vt:lpstr>Backend Modular Coding </vt:lpstr>
      <vt:lpstr>Streamlit App </vt:lpstr>
      <vt:lpstr>Topics of Discussion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dipan banerjee</dc:creator>
  <cp:lastModifiedBy>Dipan Banerjee</cp:lastModifiedBy>
  <cp:revision>25</cp:revision>
  <dcterms:created xsi:type="dcterms:W3CDTF">2019-10-29T10:44:45Z</dcterms:created>
  <dcterms:modified xsi:type="dcterms:W3CDTF">2026-05-13T12:50:07Z</dcterms:modified>
</cp:coreProperties>
</file>