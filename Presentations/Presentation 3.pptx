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73" r:id="rId4"/>
    <p:sldId id="274" r:id="rId5"/>
    <p:sldId id="281" r:id="rId6"/>
    <p:sldId id="275" r:id="rId7"/>
    <p:sldId id="277" r:id="rId8"/>
    <p:sldId id="279" r:id="rId9"/>
    <p:sldId id="280" r:id="rId10"/>
  </p:sldIdLst>
  <p:sldSz cx="10080625" cy="5670550"/>
  <p:notesSz cx="7772400" cy="100584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7ADB4B-0066-80AE-88DE-E41AAA0876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BBF29-3B44-438B-A91F-2F8E9DA96DD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70095-0F81-DC60-E59B-6D55AA6AA4A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E677D-4622-2B7D-BB12-B791CB2C268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3709D1-F1DD-4437-B873-D406EF16BBA4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DejaVu Sans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8716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ECDA7-C3A8-06D7-F068-4F85374963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3F09-03BF-0E5F-B1D4-31159634B96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A3856D7-A8D8-7878-9369-A19E0980FC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12641-30D4-C543-1E78-C528D7E2558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89E5-5492-0E98-43FF-D4A8BE204BB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293F-D66F-23CB-4A6E-07E0644708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62C876FF-0F98-4461-9741-A5EB327176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322A9C4-058A-F170-CCB8-C44D66F025F1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79B6291-7C39-481B-9C1D-26FF42D8F14B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B2A2C4A-97C4-2EAD-A76D-0877E82CE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8FCA7B-294A-269F-BFDD-8DD65BDFD1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DAA7-6AB7-3E8F-D13B-91C3132C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34D8C01-257D-BB5B-6382-CAA7F7A92DE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52B237D8-2B9D-D4B7-69BA-0F8083D95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289C2022-CF94-60AC-1AC4-B522C2D4D0C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72593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78AB5-F429-5E2A-3530-F40B3EFD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552F880-014A-2894-5C02-B5FA0761560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76F2791-4550-4A1B-EDFC-9C46994EA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3E6F11D-B974-5A24-5084-09A6B4DA2E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2468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720BD-7BAF-D9A4-E376-DE3D5A90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E99396-FD14-B795-2E78-228EB9C4FB6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77751321-D07F-7823-5057-CD904E02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3AD75A9E-5C69-47F9-3AEF-7709D5E205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0000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DF2-3CD1-FB01-6D84-95A37BC0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81045D6-8F65-176D-9107-1C57B2E53ED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BC7A96CC-1B1B-033E-6ACF-025A42C19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2D9F153-A14F-97E0-CDAA-C39B2D502F3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873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326F-A94B-2A5D-2754-948A4EAD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3F8B8B3-30B4-CF13-9191-3F14B3B6E7B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9FBD582-BAF0-7F85-EAF7-65A1A9BED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9EF9E6A2-05B7-5E32-CF0D-E2ABB648CE5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6136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577A-F90E-4363-0A1B-4C3938E5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2598AE0-18C6-EDD0-5955-72F75E5612E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D042C49-947C-D4EA-0C69-60CE2D41B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C1F685C-7326-803C-9F6C-AF2DD6AC01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1034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DDF5-788E-E50E-4416-7818E2180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C1EFE1E-F90D-D950-2FA6-AE68AEF34AEB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52984B9-6F2F-4C86-B20B-5DD78842F902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B8B5916-03F2-E079-CF92-31DD082B1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521245B-8B2E-666E-9DC9-BD2918C1E0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80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0692-D582-2F05-E6E1-75FA21AC24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65ABE-6A03-70D0-92EB-5A2627253F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434-2803-A8B0-2A4C-E14985E97A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D409C-70C5-4D19-8F5C-953B5C43B1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7A69B3-CB82-48A4-85DC-DB28B576C7D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4DFA-56A8-A429-BB0A-03AB366B0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BE78-A7A5-C53C-79E0-E0BB6D97237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46AE2-6A71-CC5C-B3C1-FCA0FBEF6FA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F5F15-9115-F38D-A2D2-CF33FB413F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8D6634-5E44-4BFE-8C0C-4E32CDC28D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8E96-9306-2AC7-5D59-0057A8D5C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694A1-89C8-2383-E71D-F09DBA6B5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FC8C6-B589-8D28-762B-4BD12F167A3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8442E9-6C1D-5BBE-6FF0-341BB8B564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6EC41-B1FB-40ED-B3CA-EAEEB8A0FC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79AD-E879-2C21-6EBF-730FB99BA6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DDF-F509-BA6C-0D60-820167E81C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463670"/>
            <a:ext cx="4459291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8C37E-72B9-2BA7-CC06-6E3A8C1C6E1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463670"/>
            <a:ext cx="4460872" cy="41148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2506-4356-DC3E-1033-D9EE85C8D5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694D4-A99E-4BCB-FF32-D559DECE357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093AF5-B7C8-49F7-AD50-244FB35223D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78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374-F860-FD29-0BE6-18E521D52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56535-6240-CB08-A4C7-AAC4E7827D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18BF4-C6D5-3F0E-5241-F5989C0471B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CCF9B-2DE2-4FF3-9605-4244221185CD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465416-4190-CC53-106F-80A968E610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58252A-B0CA-5927-4128-285E93AEDC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E75EB1-8997-93A4-1BBA-8409A0EC66A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F0F5E4-7714-48B3-BC87-5ED985E3193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8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1549-F8A8-5860-C55E-5BE6DC7BAF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A75F9-A035-C691-CA77-7C3B65DD0A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11A37-B070-519D-D972-53B4F8CC6B2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D336F7-0458-41A4-BD70-F426082592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8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229E8A-EC55-27B8-683B-4B39300CC6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D67047-A896-27F8-6BBF-F15CBDC55EE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A031C5-4224-4C08-8D79-4AE8468A35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303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73C84-D9D0-1C5D-649A-F0529D55D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F807D-2442-BBD9-BE44-2AA7E8FB15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CA880-3D79-6C1D-FE7A-DE9AD82F09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E0A4F-C16D-9447-6361-BBB53B537D1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591E-EF53-1E1F-7FB0-A19AB4AC37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DB112C-0D5A-4A56-B951-2E51CB2055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3E0C-4CC1-6057-DF6D-E828D84F59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28CD-E2BA-5690-0DF6-850E550BE658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39B6B-1901-21B3-B270-AB0F1F74AF2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3E415-B17E-9D9C-D4F3-40A416C9CF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ACDB-ACB6-526E-A4EC-32CBEA49FB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14BC18-A0FC-4D3C-9995-2BDDD27916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9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84B9-F1B1-453F-D79E-23E4B256B74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28298-4D3C-40F2-CBD5-34B5E758A62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FB841-11AE-DB00-E2AB-C02353997C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CE52C-1D19-1480-38D3-95A8C888951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CD21F2-7F5F-4479-A848-31E033094B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9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F86DA-83E6-5622-0B7A-359E73E162E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801691"/>
            <a:ext cx="2266953" cy="477678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2B167-181F-FB00-68BD-BA58A15B2EB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801691"/>
            <a:ext cx="6653210" cy="477678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0E4E7-BBE7-BEB9-D85F-E19340A549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90E01-4B5B-E885-AFB5-30696B386D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1DBD68-169B-4B72-8FFE-DAD6733BB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7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DCE4-9602-1954-C57E-A51213F0C30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46605A-0FB7-6269-A6C6-72CB20FB645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1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FA53-C44E-B783-0358-79C31043AF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E10F-836F-1B6D-FAB8-C192278D0E3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988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3E9-7C0A-63E7-A4FC-50276A0A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B763B-80A2-CC1E-8D09-EDE7E8E8C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8646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49C7-3275-D0A1-08AC-D51EA6185C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C57F8-E6BD-AD05-AB5F-60A868B9B6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4022729"/>
            <a:ext cx="4459291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E6BAE-169E-0E0A-99E6-1ED153E461C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4022729"/>
            <a:ext cx="4460872" cy="153352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0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69007-141D-A4D5-CED8-FBF2E8840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6B6F-6CCB-399E-3B9F-A5B7F5DC6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2E011-684B-7427-F1D5-CDF35EC8412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37C219-7646-F80C-0E91-D773877F541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6E523-9128-5C6B-A578-F094D92BE439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243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79D-B5EA-4ABF-DAB9-3CE486FFCE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43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51812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022D-E63C-ADED-BF8F-47B1E6FD3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4CE-DF31-48F6-09ED-660365C5235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01D2-8616-B8DC-31CF-4CDC9D06CFD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95932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CF0F-ACEF-9614-532D-A0784F838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778C2-90E2-E62F-D3D1-38E6DCC0DE1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buNone/>
              <a:defRPr lang="en-IN" sz="3200"/>
            </a:lvl1pPr>
          </a:lstStyle>
          <a:p>
            <a:pPr lvl="0"/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85742C-90C0-1A3D-93BD-B6E2DC8ED2C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7649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44A5-B15B-07D7-570C-38386DAC66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32055-F634-6506-5F2B-147E9D7FC33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40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FB7CD-6551-E97F-0F07-664C45C0186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27901" y="2339977"/>
            <a:ext cx="2273298" cy="3216273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C74AF-EF8C-6967-3381-733C15F9BFE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339977"/>
            <a:ext cx="6672257" cy="32162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11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9C5BE-15A1-8A06-FB39-381A4CAB9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802084"/>
            <a:ext cx="9071643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EA96-B93F-6BC0-9C73-78C4192D6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463040"/>
            <a:ext cx="9071643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68095-6E50-1BA7-8BD4-5BE018B4CFB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1455-F14E-6A5E-6F2C-20FB7DE2E52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defRPr>
            </a:lvl1pPr>
          </a:lstStyle>
          <a:p>
            <a:pPr lvl="0"/>
            <a:fld id="{BAAFB518-8F45-40CF-958A-A644436AFACC}" type="slidenum">
              <a:t>‹#›</a:t>
            </a:fld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64307DBA-4F74-FA31-04EE-2FF85A055EE1}"/>
              </a:ext>
            </a:extLst>
          </p:cNvPr>
          <p:cNvSpPr/>
          <p:nvPr/>
        </p:nvSpPr>
        <p:spPr>
          <a:xfrm>
            <a:off x="0" y="731520"/>
            <a:ext cx="10079998" cy="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36722" cap="flat">
            <a:solidFill>
              <a:srgbClr val="0073C0"/>
            </a:solidFill>
            <a:prstDash val="solid"/>
            <a:miter/>
          </a:ln>
        </p:spPr>
        <p:txBody>
          <a:bodyPr vert="horz" wrap="square" lIns="18361" tIns="18361" rIns="18361" bIns="18361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A6A9D4-19A3-F0C0-A096-07301A440B9D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503998" y="91440"/>
            <a:ext cx="3513956" cy="5882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2FB32D1-2C4D-3477-3C58-EBF11C522819}"/>
              </a:ext>
            </a:extLst>
          </p:cNvPr>
          <p:cNvSpPr/>
          <p:nvPr/>
        </p:nvSpPr>
        <p:spPr>
          <a:xfrm>
            <a:off x="8706240" y="0"/>
            <a:ext cx="0" cy="18288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18361" cap="flat">
            <a:solidFill>
              <a:srgbClr val="0073C0"/>
            </a:solidFill>
            <a:prstDash val="solid"/>
            <a:miter/>
          </a:ln>
        </p:spPr>
        <p:txBody>
          <a:bodyPr vert="horz" wrap="square" lIns="9363" tIns="9363" rIns="9363" bIns="9363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❖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Clr>
          <a:srgbClr val="0073C0"/>
        </a:buClr>
        <a:buSzPct val="75000"/>
        <a:buFont typeface="OpenSymbol"/>
        <a:buChar char="➢"/>
        <a:tabLst/>
        <a:defRPr lang="en-US" sz="20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5EB0B3B-C01D-A82C-1F7D-9D81A90A1F53}"/>
              </a:ext>
            </a:extLst>
          </p:cNvPr>
          <p:cNvSpPr/>
          <p:nvPr/>
        </p:nvSpPr>
        <p:spPr>
          <a:xfrm>
            <a:off x="0" y="3931920"/>
            <a:ext cx="10079998" cy="173808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val f2"/>
              <a:gd name="f7" fmla="val f3"/>
              <a:gd name="f8" fmla="+- f7 0 f6"/>
              <a:gd name="f9" fmla="*/ f8 1 216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073C0"/>
          </a:solidFill>
          <a:ln cap="flat">
            <a:noFill/>
            <a:prstDash val="solid"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FFFFFF"/>
              </a:solidFill>
              <a:uFillTx/>
              <a:latin typeface="Liberation Serif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F252B72-CDAB-D5D4-2366-A1D74C024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9556" y="2339638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r>
              <a:rPr lang="en-US"/>
              <a:t>Click to edit the title text format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A4895-697C-5E7C-50FB-280A5EAC6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4023360"/>
            <a:ext cx="9071643" cy="15325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7B6CFBD-8A93-9A7F-34EF-3EC0F7741EF0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486716" y="506156"/>
            <a:ext cx="9106921" cy="1524597"/>
          </a:xfrm>
          <a:prstGeom prst="rect">
            <a:avLst/>
          </a:prstGeom>
          <a:noFill/>
          <a:ln cap="flat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28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Roboto:frac=1&amp;smcp" pitchFamily="2"/>
          <a:ea typeface="DejaVu Sans" pitchFamily="2"/>
          <a:cs typeface="FreeSans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1pPr>
      <a:lvl2pPr marL="0" marR="0" lvl="1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2pPr>
      <a:lvl3pPr marL="0" marR="0" lvl="2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3pPr>
      <a:lvl4pPr marL="0" marR="0" lvl="3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75000"/>
        <a:buFont typeface="StarSymbol"/>
        <a:buChar char="–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4pPr>
      <a:lvl5pPr marL="0" marR="0" lvl="4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5pPr>
      <a:lvl6pPr marL="0" marR="0" lvl="5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6pPr>
      <a:lvl7pPr marL="0" marR="0" lvl="6" indent="0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SzPct val="45000"/>
        <a:buFont typeface="StarSymbol"/>
        <a:buChar char="●"/>
        <a:tabLst/>
        <a:defRPr lang="en-US" sz="20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Roboto" pitchFamily="2"/>
          <a:ea typeface="DejaVu Sans" pitchFamily="2"/>
          <a:cs typeface="FreeSans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CA48A-D3AD-42F0-2E0B-D8E87F50A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9556" y="2166527"/>
            <a:ext cx="9071643" cy="1292662"/>
          </a:xfrm>
        </p:spPr>
        <p:txBody>
          <a:bodyPr>
            <a:spAutoFit/>
          </a:bodyPr>
          <a:lstStyle/>
          <a:p>
            <a:r>
              <a:rPr lang="en-GB" b="1" dirty="0"/>
              <a:t>Structuring Industrial Security Standards for Machine-Readable Analysis</a:t>
            </a:r>
            <a:br>
              <a:rPr lang="en-GB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967A8-AC6D-B826-7E5E-3720664F84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/>
          <a:p>
            <a:pPr>
              <a:buNone/>
            </a:pPr>
            <a:r>
              <a:rPr lang="en-GB" dirty="0"/>
              <a:t>Dipan Banerjee</a:t>
            </a:r>
            <a:endParaRPr lang="en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7C435-F7E5-63B2-0E09-DFA175E8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A3D73-D084-3230-D5FD-C175E1DBDFCF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03279-F0D8-E88E-8738-62A285D2E02F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42C510-152F-6555-E8BE-41549ADEB4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Recap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4159C-9C1A-297A-1730-33BAA2C5412D}"/>
              </a:ext>
            </a:extLst>
          </p:cNvPr>
          <p:cNvSpPr/>
          <p:nvPr/>
        </p:nvSpPr>
        <p:spPr>
          <a:xfrm>
            <a:off x="694636" y="1383882"/>
            <a:ext cx="2017033" cy="14431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Text Extraction</a:t>
            </a:r>
          </a:p>
          <a:p>
            <a:r>
              <a:rPr lang="en-GB" sz="1000" i="1" dirty="0"/>
              <a:t>Extracted text as content from PDFs</a:t>
            </a:r>
          </a:p>
          <a:p>
            <a:endParaRPr lang="en-DE" sz="1200" i="1" dirty="0"/>
          </a:p>
        </p:txBody>
      </p:sp>
      <p:pic>
        <p:nvPicPr>
          <p:cNvPr id="8" name="Graphic 7" descr="Document">
            <a:extLst>
              <a:ext uri="{FF2B5EF4-FFF2-40B4-BE49-F238E27FC236}">
                <a16:creationId xmlns:a16="http://schemas.microsoft.com/office/drawing/2014/main" id="{E73EA526-4917-8551-9A5B-166D3F429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6386" y="2276816"/>
            <a:ext cx="341013" cy="3410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F0CCE4-33D7-475E-1119-88D4A48BBFA4}"/>
              </a:ext>
            </a:extLst>
          </p:cNvPr>
          <p:cNvSpPr/>
          <p:nvPr/>
        </p:nvSpPr>
        <p:spPr>
          <a:xfrm>
            <a:off x="3539360" y="1288373"/>
            <a:ext cx="1836681" cy="14605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Phase Classification</a:t>
            </a:r>
          </a:p>
          <a:p>
            <a:r>
              <a:rPr lang="en-GB" sz="1000" i="1" dirty="0"/>
              <a:t>Mapped content to the lifecycle phases using NLP (TDIF, cosine similarity)</a:t>
            </a:r>
          </a:p>
          <a:p>
            <a:endParaRPr lang="en-DE" sz="1200" i="1" dirty="0"/>
          </a:p>
        </p:txBody>
      </p:sp>
      <p:pic>
        <p:nvPicPr>
          <p:cNvPr id="13" name="Graphic 12" descr="Arrow Clockwise curve">
            <a:extLst>
              <a:ext uri="{FF2B5EF4-FFF2-40B4-BE49-F238E27FC236}">
                <a16:creationId xmlns:a16="http://schemas.microsoft.com/office/drawing/2014/main" id="{77869CDC-0616-DFB5-0794-91A63CB4F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1416" y="2404384"/>
            <a:ext cx="312081" cy="3120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A582B1-4B5E-97CB-7975-2FA71CD2A382}"/>
              </a:ext>
            </a:extLst>
          </p:cNvPr>
          <p:cNvSpPr/>
          <p:nvPr/>
        </p:nvSpPr>
        <p:spPr>
          <a:xfrm>
            <a:off x="6046076" y="1309153"/>
            <a:ext cx="2365327" cy="14189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Metadata Design</a:t>
            </a:r>
          </a:p>
          <a:p>
            <a:r>
              <a:rPr lang="en-GB" sz="1000" i="1" dirty="0"/>
              <a:t>Added extra columns like normative, keywords, abstraction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D7CFE6-516B-06EC-8A95-AA007940DEFF}"/>
              </a:ext>
            </a:extLst>
          </p:cNvPr>
          <p:cNvSpPr/>
          <p:nvPr/>
        </p:nvSpPr>
        <p:spPr>
          <a:xfrm>
            <a:off x="694636" y="3391951"/>
            <a:ext cx="2017033" cy="13783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Combined Table</a:t>
            </a:r>
          </a:p>
          <a:p>
            <a:r>
              <a:rPr lang="en-GB" sz="1000" i="1" dirty="0"/>
              <a:t>Unified schema for both with vector embeddings for searchable corpus</a:t>
            </a:r>
          </a:p>
          <a:p>
            <a:endParaRPr lang="en-DE" sz="12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E1EA99-2EC3-9989-C472-F3B2785D5C17}"/>
              </a:ext>
            </a:extLst>
          </p:cNvPr>
          <p:cNvSpPr/>
          <p:nvPr/>
        </p:nvSpPr>
        <p:spPr>
          <a:xfrm>
            <a:off x="3539360" y="3330121"/>
            <a:ext cx="1836681" cy="14189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/>
              <a:t>Embeddings</a:t>
            </a:r>
          </a:p>
          <a:p>
            <a:r>
              <a:rPr lang="en-GB" sz="1000" i="1" dirty="0"/>
              <a:t>Generated vector representations- to find out the similarity score.</a:t>
            </a:r>
          </a:p>
          <a:p>
            <a:endParaRPr lang="en-DE" sz="12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01E496-45CF-DE43-2D43-F5DB4AD6518B}"/>
              </a:ext>
            </a:extLst>
          </p:cNvPr>
          <p:cNvSpPr/>
          <p:nvPr/>
        </p:nvSpPr>
        <p:spPr>
          <a:xfrm>
            <a:off x="6119494" y="3289475"/>
            <a:ext cx="2291909" cy="1407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400" b="1" dirty="0" err="1"/>
              <a:t>Supabase</a:t>
            </a:r>
            <a:r>
              <a:rPr lang="en-GB" sz="1400" b="1" dirty="0"/>
              <a:t> storage</a:t>
            </a:r>
          </a:p>
          <a:p>
            <a:r>
              <a:rPr lang="en-GB" sz="1000" i="1" dirty="0"/>
              <a:t>The results are stored in </a:t>
            </a:r>
            <a:r>
              <a:rPr lang="en-GB" sz="1000" i="1" dirty="0" err="1"/>
              <a:t>supabase</a:t>
            </a:r>
            <a:endParaRPr lang="en-GB" sz="1000" i="1" dirty="0"/>
          </a:p>
          <a:p>
            <a:endParaRPr lang="en-DE" sz="1200" i="1" dirty="0"/>
          </a:p>
        </p:txBody>
      </p:sp>
      <p:pic>
        <p:nvPicPr>
          <p:cNvPr id="21" name="Graphic 20" descr="Link">
            <a:extLst>
              <a:ext uri="{FF2B5EF4-FFF2-40B4-BE49-F238E27FC236}">
                <a16:creationId xmlns:a16="http://schemas.microsoft.com/office/drawing/2014/main" id="{6BFAE9F4-8A91-2B70-437A-4C17EF2053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05525" y="2304115"/>
            <a:ext cx="338390" cy="338390"/>
          </a:xfrm>
          <a:prstGeom prst="rect">
            <a:avLst/>
          </a:prstGeom>
        </p:spPr>
      </p:pic>
      <p:pic>
        <p:nvPicPr>
          <p:cNvPr id="23" name="Graphic 22" descr="Daily calendar">
            <a:extLst>
              <a:ext uri="{FF2B5EF4-FFF2-40B4-BE49-F238E27FC236}">
                <a16:creationId xmlns:a16="http://schemas.microsoft.com/office/drawing/2014/main" id="{23EE0CB3-C2AF-83F9-E37E-5D68420AE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0604" y="4285135"/>
            <a:ext cx="362607" cy="362607"/>
          </a:xfrm>
          <a:prstGeom prst="rect">
            <a:avLst/>
          </a:prstGeom>
        </p:spPr>
      </p:pic>
      <p:pic>
        <p:nvPicPr>
          <p:cNvPr id="25" name="Graphic 24" descr="Lightbulb and gear">
            <a:extLst>
              <a:ext uri="{FF2B5EF4-FFF2-40B4-BE49-F238E27FC236}">
                <a16:creationId xmlns:a16="http://schemas.microsoft.com/office/drawing/2014/main" id="{379D2470-23BF-C16C-074E-EE18AAC62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60377" y="4327651"/>
            <a:ext cx="367260" cy="36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8519-3CF2-88F3-630A-C434BE23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D2463-FB6C-FF17-AB1D-84491242CF10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57A922-9D52-858F-1A70-91F2E8CCF0C9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904619-9572-59FA-EB26-88F3620ADF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Challenges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C854BD-D8FC-7F42-21D7-E6E95A0597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9" y="1392097"/>
            <a:ext cx="4903574" cy="2013256"/>
          </a:xfrm>
        </p:spPr>
        <p:txBody>
          <a:bodyPr/>
          <a:lstStyle/>
          <a:p>
            <a:pPr marL="342900" lvl="2" indent="-342900">
              <a:buFont typeface="Wingdings" panose="05000000000000000000" pitchFamily="2" charset="2"/>
              <a:buChar char="ü"/>
            </a:pPr>
            <a:r>
              <a:rPr lang="en-GB" dirty="0"/>
              <a:t>Raw PDF text was not suitable for retrieval.</a:t>
            </a:r>
          </a:p>
          <a:p>
            <a:pPr marL="342900" lvl="2" indent="-342900">
              <a:buFont typeface="Wingdings" panose="05000000000000000000" pitchFamily="2" charset="2"/>
              <a:buChar char="ü"/>
            </a:pPr>
            <a:r>
              <a:rPr lang="en-GB" dirty="0"/>
              <a:t>Chunking was difficult to tune.</a:t>
            </a:r>
          </a:p>
          <a:p>
            <a:pPr marL="342900" lvl="2" indent="-342900">
              <a:buFont typeface="Wingdings" panose="05000000000000000000" pitchFamily="2" charset="2"/>
              <a:buChar char="ü"/>
            </a:pPr>
            <a:endParaRPr lang="en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C54CE5-C381-4156-F269-CB4E7A6B8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432" y="1130386"/>
            <a:ext cx="3619500" cy="1790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4D1656-0028-36FA-249D-AEE1A192B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08" y="2639305"/>
            <a:ext cx="4162465" cy="2545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14AE3C-A40E-50AE-D627-BCB9349F8FDB}"/>
              </a:ext>
            </a:extLst>
          </p:cNvPr>
          <p:cNvSpPr txBox="1"/>
          <p:nvPr/>
        </p:nvSpPr>
        <p:spPr>
          <a:xfrm>
            <a:off x="6566338" y="4185745"/>
            <a:ext cx="3116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* Also added 0.05 similarity for normative and lifecycle phase</a:t>
            </a:r>
            <a:endParaRPr lang="en-DE" b="1" i="1" dirty="0"/>
          </a:p>
        </p:txBody>
      </p:sp>
    </p:spTree>
    <p:extLst>
      <p:ext uri="{BB962C8B-B14F-4D97-AF65-F5344CB8AC3E}">
        <p14:creationId xmlns:p14="http://schemas.microsoft.com/office/powerpoint/2010/main" val="1223079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E863-BD77-0069-555A-209997C6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576D4-D9AC-209A-9F98-E36A612B3DB2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B224E-B0D2-6AF7-7E08-EB84517AEEA3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F933DF-C558-82CB-2C1F-FE2809AC26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Database Now</a:t>
            </a:r>
            <a:endParaRPr lang="en-D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8B883E-E13A-1949-BBEE-24A1AC905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9" y="1525389"/>
            <a:ext cx="4610500" cy="38179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745452-D714-1FC6-D20B-74B1A4C84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758" y="1439391"/>
            <a:ext cx="4523619" cy="2288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635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EC97-7435-7714-0F86-3A0CA269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AA9EF-35AA-9A81-47BB-5F855F681398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 dirty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A05E84-F570-D6CE-B825-3D9A9620C8BF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CBBD4E-C9AB-0A92-8D16-81E214AC646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Improved Architecture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C4743F-4706-D032-ED9B-548FB11EF1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2164607"/>
            <a:ext cx="6503774" cy="1666414"/>
          </a:xfrm>
        </p:spPr>
        <p:txBody>
          <a:bodyPr/>
          <a:lstStyle/>
          <a:p>
            <a:pPr lvl="2">
              <a:buNone/>
            </a:pPr>
            <a:endParaRPr lang="en-DE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BC0BC0-EA87-BEFD-A7C5-B4C72E5A8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98" y="1280159"/>
            <a:ext cx="7195448" cy="4118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4528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D1A9-411C-CEFD-1C8F-9A934480C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460A0-32F9-7B67-2203-07654849B04D}"/>
              </a:ext>
            </a:extLst>
          </p:cNvPr>
          <p:cNvSpPr txBox="1"/>
          <p:nvPr/>
        </p:nvSpPr>
        <p:spPr>
          <a:xfrm>
            <a:off x="8797680" y="0"/>
            <a:ext cx="118872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07.11.2019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6801F-B001-74A1-D223-E2CBB3C0B5DC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5C3185-8688-4336-A389-2A73EF61C8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Results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CB591-B707-6B3F-9F7B-2C5BEDBDE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88" y="1691639"/>
            <a:ext cx="9071643" cy="305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4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9879-EF76-82A7-292B-65753AA9A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92C21-EFB1-FF2D-A6F5-DBBD1DA78106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FC3BA6-BB8B-CE31-389A-AC4BBDA032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dirty="0"/>
              <a:t>Topics of Discussion</a:t>
            </a:r>
            <a:endParaRPr lang="en-D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655230-269E-0433-0C95-23A91D6984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78372" y="1505606"/>
            <a:ext cx="8600090" cy="3362859"/>
          </a:xfrm>
        </p:spPr>
        <p:txBody>
          <a:bodyPr/>
          <a:lstStyle/>
          <a:p>
            <a:pPr marL="342900" lvl="2" indent="-342900"/>
            <a:r>
              <a:rPr lang="en-GB" i="1" dirty="0"/>
              <a:t>How to prepare the gold standard dataset.</a:t>
            </a:r>
          </a:p>
          <a:p>
            <a:pPr marL="342900" lvl="2" indent="-342900"/>
            <a:r>
              <a:rPr lang="en-GB" i="1" dirty="0"/>
              <a:t>Next task probably with </a:t>
            </a:r>
            <a:r>
              <a:rPr lang="en-GB" i="1" dirty="0" err="1"/>
              <a:t>streamlit</a:t>
            </a:r>
            <a:r>
              <a:rPr lang="en-GB" i="1" dirty="0"/>
              <a:t> applications</a:t>
            </a:r>
          </a:p>
          <a:p>
            <a:pPr marL="342900" lvl="2" indent="-342900"/>
            <a:r>
              <a:rPr lang="en-GB" i="1" dirty="0"/>
              <a:t>Will be using paid source </a:t>
            </a:r>
            <a:r>
              <a:rPr lang="en-GB" i="1" dirty="0" err="1"/>
              <a:t>gpt</a:t>
            </a:r>
            <a:r>
              <a:rPr lang="en-GB" i="1" dirty="0"/>
              <a:t> model or perplexity and their embeddings rather than open source. </a:t>
            </a:r>
          </a:p>
          <a:p>
            <a:pPr marL="342900" lvl="2" indent="-342900"/>
            <a:r>
              <a:rPr lang="en-GB" i="1" dirty="0"/>
              <a:t>Since LLM is performing technically well but semantically it can be problematic , it can reduce the precision and recall score overall. 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532464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DEA3-BF01-05CC-3A61-60A0543C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623E5-2026-D8D9-0A75-8F7AD54E4458}"/>
              </a:ext>
            </a:extLst>
          </p:cNvPr>
          <p:cNvSpPr txBox="1"/>
          <p:nvPr/>
        </p:nvSpPr>
        <p:spPr>
          <a:xfrm>
            <a:off x="7334640" y="0"/>
            <a:ext cx="1280160" cy="3906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E179EF-63DE-4C02-937F-012871C394FB}" type="slidenum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Roboto" pitchFamily="2"/>
                <a:ea typeface="DejaVu Sans" pitchFamily="2"/>
                <a:cs typeface="DejaVu Sans" pitchFamily="2"/>
              </a:rPr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Roboto" pitchFamily="2"/>
              <a:ea typeface="DejaVu Sans" pitchFamily="2"/>
              <a:cs typeface="DejaVu Sans" pitchFamily="2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ED28DCE-74FC-78C7-0B34-0F95DD813E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2737" y="2561896"/>
            <a:ext cx="8600090" cy="1746893"/>
          </a:xfrm>
        </p:spPr>
        <p:txBody>
          <a:bodyPr/>
          <a:lstStyle/>
          <a:p>
            <a:pPr lvl="2" algn="ctr">
              <a:buNone/>
            </a:pPr>
            <a:r>
              <a:rPr lang="en-GB" i="1" dirty="0"/>
              <a:t>Thank you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2340039046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elfoli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Custom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Calibri</vt:lpstr>
      <vt:lpstr>Liberation Sans</vt:lpstr>
      <vt:lpstr>Liberation Serif</vt:lpstr>
      <vt:lpstr>OpenSymbol</vt:lpstr>
      <vt:lpstr>Roboto</vt:lpstr>
      <vt:lpstr>Roboto:frac=1&amp;smcp</vt:lpstr>
      <vt:lpstr>StarSymbol</vt:lpstr>
      <vt:lpstr>Wingdings</vt:lpstr>
      <vt:lpstr>Inhalt</vt:lpstr>
      <vt:lpstr>Titelfolie</vt:lpstr>
      <vt:lpstr>Structuring Industrial Security Standards for Machine-Readable Analysis </vt:lpstr>
      <vt:lpstr>Recap</vt:lpstr>
      <vt:lpstr>Challenges</vt:lpstr>
      <vt:lpstr>Database Now</vt:lpstr>
      <vt:lpstr>Improved Architecture</vt:lpstr>
      <vt:lpstr>Results</vt:lpstr>
      <vt:lpstr>Topics of Discussion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dipan banerjee</dc:creator>
  <cp:lastModifiedBy>Dipan Banerjee</cp:lastModifiedBy>
  <cp:revision>24</cp:revision>
  <dcterms:created xsi:type="dcterms:W3CDTF">2019-10-29T10:44:45Z</dcterms:created>
  <dcterms:modified xsi:type="dcterms:W3CDTF">2026-04-23T18:36:43Z</dcterms:modified>
</cp:coreProperties>
</file>